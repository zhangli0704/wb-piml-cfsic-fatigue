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5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00200"/>
            <a:ext cx="11201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16344E"/>
                </a:solidFill>
                <a:latin typeface="Arial"/>
              </a:defRPr>
            </a:pPr>
            <a:r>
              <a:t>WB-PIML — Figures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423160"/>
            <a:ext cx="107899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3A4D5B"/>
                </a:solidFill>
                <a:latin typeface="Arial"/>
              </a:defRPr>
            </a:pPr>
            <a:r>
              <a:t>8 composite figures and every non-empty subplot</a:t>
            </a:r>
            <a:br/>
            <a:r>
              <a:t>Generated from data.xlsx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01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6344E"/>
                </a:solidFill>
                <a:latin typeface="Arial"/>
              </a:defRPr>
            </a:pPr>
            <a:r>
              <a:t>Figure 1 — Exact-fracture outer-test predictions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6128" y="914400"/>
            <a:ext cx="8436694" cy="5440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1908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57F"/>
                </a:solidFill>
                <a:latin typeface="Arial"/>
              </a:defRPr>
            </a:pPr>
            <a:r>
              <a:t>full figure  |  data.xlsx  |  2/29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01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6344E"/>
                </a:solidFill>
                <a:latin typeface="Arial"/>
              </a:defRPr>
            </a:pPr>
            <a:r>
              <a:t>Figure 1A — WB exact-fracture predictions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5926" y="914400"/>
            <a:ext cx="5877098" cy="5440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1908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57F"/>
                </a:solidFill>
                <a:latin typeface="Arial"/>
              </a:defRPr>
            </a:pPr>
            <a:r>
              <a:t>individual subplot  |  data.xlsx  |  3/29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01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6344E"/>
                </a:solidFill>
                <a:latin typeface="Arial"/>
              </a:defRPr>
            </a:pPr>
            <a:r>
              <a:t>Figure 1B — ML-Ens exact-fracture predictions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5926" y="914400"/>
            <a:ext cx="5877098" cy="5440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1908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57F"/>
                </a:solidFill>
                <a:latin typeface="Arial"/>
              </a:defRPr>
            </a:pPr>
            <a:r>
              <a:t>individual subplot  |  data.xlsx  |  4/29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01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6344E"/>
                </a:solidFill>
                <a:latin typeface="Arial"/>
              </a:defRPr>
            </a:pPr>
            <a:r>
              <a:t>Figure 1C — ExtraTrees exact-fracture predictions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7747" y="914400"/>
            <a:ext cx="5833456" cy="5440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1908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57F"/>
                </a:solidFill>
                <a:latin typeface="Arial"/>
              </a:defRPr>
            </a:pPr>
            <a:r>
              <a:t>individual subplot  |  data.xlsx  |  5/29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01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6344E"/>
                </a:solidFill>
                <a:latin typeface="Arial"/>
              </a:defRPr>
            </a:pPr>
            <a:r>
              <a:t>Figure 1D — ML-Strong exact-fracture predictions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5926" y="914400"/>
            <a:ext cx="5877098" cy="5440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1908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57F"/>
                </a:solidFill>
                <a:latin typeface="Arial"/>
              </a:defRPr>
            </a:pPr>
            <a:r>
              <a:t>individual subplot  |  data.xlsx  |  6/29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01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6344E"/>
                </a:solidFill>
                <a:latin typeface="Arial"/>
              </a:defRPr>
            </a:pPr>
            <a:r>
              <a:t>Figure 1E — WB-PIML exact-fracture predictions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5926" y="914400"/>
            <a:ext cx="5877098" cy="5440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1908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57F"/>
                </a:solidFill>
                <a:latin typeface="Arial"/>
              </a:defRPr>
            </a:pPr>
            <a:r>
              <a:t>individual subplot  |  data.xlsx  |  7/29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01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6344E"/>
                </a:solidFill>
                <a:latin typeface="Arial"/>
              </a:defRPr>
            </a:pPr>
            <a:r>
              <a:t>Figure 2 — Campaign-balanced primary metrics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148543"/>
            <a:ext cx="11365992" cy="297239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1908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57F"/>
                </a:solidFill>
                <a:latin typeface="Arial"/>
              </a:defRPr>
            </a:pPr>
            <a:r>
              <a:t>full figure  |  data.xlsx  |  8/29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01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6344E"/>
                </a:solidFill>
                <a:latin typeface="Arial"/>
              </a:defRPr>
            </a:pPr>
            <a:r>
              <a:t>Figure 2A — RMSE ↓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6715" y="914400"/>
            <a:ext cx="5655520" cy="5440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1908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57F"/>
                </a:solidFill>
                <a:latin typeface="Arial"/>
              </a:defRPr>
            </a:pPr>
            <a:r>
              <a:t>individual subplot  |  data.xlsx  |  9/29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01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6344E"/>
                </a:solidFill>
                <a:latin typeface="Arial"/>
              </a:defRPr>
            </a:pPr>
            <a:r>
              <a:t>Figure 2B — $R^2$ ↑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4458" y="914400"/>
            <a:ext cx="5700034" cy="5440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1908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57F"/>
                </a:solidFill>
                <a:latin typeface="Arial"/>
              </a:defRPr>
            </a:pPr>
            <a:r>
              <a:t>individual subplot  |  data.xlsx  |  10/29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01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6344E"/>
                </a:solidFill>
                <a:latin typeface="Arial"/>
              </a:defRPr>
            </a:pPr>
            <a:r>
              <a:t>Figure 2C — $F_5$ ↑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5288" y="914400"/>
            <a:ext cx="5498375" cy="5440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1908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57F"/>
                </a:solidFill>
                <a:latin typeface="Arial"/>
              </a:defRPr>
            </a:pPr>
            <a:r>
              <a:t>individual subplot  |  data.xlsx  |  11/29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01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6344E"/>
                </a:solidFill>
                <a:latin typeface="Arial"/>
              </a:defRPr>
            </a:pPr>
            <a:r>
              <a:t>Figure 2D — $C^*$ ↓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200" y="914400"/>
            <a:ext cx="5492550" cy="5440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1908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57F"/>
                </a:solidFill>
                <a:latin typeface="Arial"/>
              </a:defRPr>
            </a:pPr>
            <a:r>
              <a:t>individual subplot  |  data.xlsx  |  12/29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01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6344E"/>
                </a:solidFill>
                <a:latin typeface="Arial"/>
              </a:defRPr>
            </a:pPr>
            <a:r>
              <a:t>Figure 3 — Retrained model ablation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79" y="1096108"/>
            <a:ext cx="11365992" cy="507726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1908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57F"/>
                </a:solidFill>
                <a:latin typeface="Arial"/>
              </a:defRPr>
            </a:pPr>
            <a:r>
              <a:t>full figure  |  data.xlsx  |  13/29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01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6344E"/>
                </a:solidFill>
                <a:latin typeface="Arial"/>
              </a:defRPr>
            </a:pPr>
            <a:r>
              <a:t>Figure 3A — Competing-damage and residual ablation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65037"/>
            <a:ext cx="11365992" cy="513940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1908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57F"/>
                </a:solidFill>
                <a:latin typeface="Arial"/>
              </a:defRPr>
            </a:pPr>
            <a:r>
              <a:t>individual subplot  |  data.xlsx  |  14/29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01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6344E"/>
                </a:solidFill>
                <a:latin typeface="Arial"/>
              </a:defRPr>
            </a:pPr>
            <a:r>
              <a:t>Figure 4 — Paired performance-effect intervals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62773"/>
            <a:ext cx="11365992" cy="37439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1908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57F"/>
                </a:solidFill>
                <a:latin typeface="Arial"/>
              </a:defRPr>
            </a:pPr>
            <a:r>
              <a:t>full figure  |  data.xlsx  |  15/29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01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6344E"/>
                </a:solidFill>
                <a:latin typeface="Arial"/>
              </a:defRPr>
            </a:pPr>
            <a:r>
              <a:t>Figure 4A — WB-PIML versus ExtraTrees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1724" y="914400"/>
            <a:ext cx="6645503" cy="5440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1908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57F"/>
                </a:solidFill>
                <a:latin typeface="Arial"/>
              </a:defRPr>
            </a:pPr>
            <a:r>
              <a:t>individual subplot  |  data.xlsx  |  16/29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01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6344E"/>
                </a:solidFill>
                <a:latin typeface="Arial"/>
              </a:defRPr>
            </a:pPr>
            <a:r>
              <a:t>Figure 4B — WB-PIML versus ML-Strong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8630" y="914400"/>
            <a:ext cx="5791691" cy="5440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1908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57F"/>
                </a:solidFill>
                <a:latin typeface="Arial"/>
              </a:defRPr>
            </a:pPr>
            <a:r>
              <a:t>individual subplot  |  data.xlsx  |  17/29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01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6344E"/>
                </a:solidFill>
                <a:latin typeface="Arial"/>
              </a:defRPr>
            </a:pPr>
            <a:r>
              <a:t>Figure 4C — WB-PIML versus ML-Ens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9975" y="914400"/>
            <a:ext cx="5749001" cy="5440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1908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57F"/>
                </a:solidFill>
                <a:latin typeface="Arial"/>
              </a:defRPr>
            </a:pPr>
            <a:r>
              <a:t>individual subplot  |  data.xlsx  |  18/29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01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6344E"/>
                </a:solidFill>
                <a:latin typeface="Arial"/>
              </a:defRPr>
            </a:pPr>
            <a:r>
              <a:t>Figure 5 — Empirical prediction intervals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03328"/>
            <a:ext cx="11365992" cy="446282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1908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57F"/>
                </a:solidFill>
                <a:latin typeface="Arial"/>
              </a:defRPr>
            </a:pPr>
            <a:r>
              <a:t>full figure  |  data.xlsx  |  19/29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01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6344E"/>
                </a:solidFill>
                <a:latin typeface="Arial"/>
              </a:defRPr>
            </a:pPr>
            <a:r>
              <a:t>Figure 5A — Outer-test empirical 90% intervals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7250" y="914400"/>
            <a:ext cx="6814451" cy="5440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1908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57F"/>
                </a:solidFill>
                <a:latin typeface="Arial"/>
              </a:defRPr>
            </a:pPr>
            <a:r>
              <a:t>individual subplot  |  data.xlsx  |  20/29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01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6344E"/>
                </a:solidFill>
                <a:latin typeface="Arial"/>
              </a:defRPr>
            </a:pPr>
            <a:r>
              <a:t>Figure 5B — Empirical interval coverage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1762" y="914400"/>
            <a:ext cx="7145426" cy="5440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1908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57F"/>
                </a:solidFill>
                <a:latin typeface="Arial"/>
              </a:defRPr>
            </a:pPr>
            <a:r>
              <a:t>individual subplot  |  data.xlsx  |  21/29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01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6344E"/>
                </a:solidFill>
                <a:latin typeface="Arial"/>
              </a:defRPr>
            </a:pPr>
            <a:r>
              <a:t>Figure 6 — Runout evaluation under right censoring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79" y="1344931"/>
            <a:ext cx="11365992" cy="45796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1908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57F"/>
                </a:solidFill>
                <a:latin typeface="Arial"/>
              </a:defRPr>
            </a:pPr>
            <a:r>
              <a:t>full figure  |  data.xlsx  |  22/29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01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6344E"/>
                </a:solidFill>
                <a:latin typeface="Arial"/>
              </a:defRPr>
            </a:pPr>
            <a:r>
              <a:t>Figure 6A — Runout survival negative log-likelihood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9013" y="914400"/>
            <a:ext cx="6810925" cy="5440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1908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57F"/>
                </a:solidFill>
                <a:latin typeface="Arial"/>
              </a:defRPr>
            </a:pPr>
            <a:r>
              <a:t>individual subplot  |  data.xlsx  |  23/29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01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6344E"/>
                </a:solidFill>
                <a:latin typeface="Arial"/>
              </a:defRPr>
            </a:pPr>
            <a:r>
              <a:t>Figure 6B — Point prediction versus runout limit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9013" y="914400"/>
            <a:ext cx="6810925" cy="5440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1908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57F"/>
                </a:solidFill>
                <a:latin typeface="Arial"/>
              </a:defRPr>
            </a:pPr>
            <a:r>
              <a:t>individual subplot  |  data.xlsx  |  24/29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01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6344E"/>
                </a:solidFill>
                <a:latin typeface="Arial"/>
              </a:defRPr>
            </a:pPr>
            <a:r>
              <a:t>Figure 7 — Source-specific RMSE gain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508" y="914400"/>
            <a:ext cx="9955935" cy="5440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1908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57F"/>
                </a:solidFill>
                <a:latin typeface="Arial"/>
              </a:defRPr>
            </a:pPr>
            <a:r>
              <a:t>full figure  |  data.xlsx  |  25/29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01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6344E"/>
                </a:solidFill>
                <a:latin typeface="Arial"/>
              </a:defRPr>
            </a:pPr>
            <a:r>
              <a:t>Figure 7A — Source-level RMSE gain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863" y="914400"/>
            <a:ext cx="9793224" cy="5440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1908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57F"/>
                </a:solidFill>
                <a:latin typeface="Arial"/>
              </a:defRPr>
            </a:pPr>
            <a:r>
              <a:t>individual subplot  |  data.xlsx  |  26/29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01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6344E"/>
                </a:solidFill>
                <a:latin typeface="Arial"/>
              </a:defRPr>
            </a:pPr>
            <a:r>
              <a:t>Figure 8 — Validation-scope comparison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79" y="1605365"/>
            <a:ext cx="11365992" cy="405874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1908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57F"/>
                </a:solidFill>
                <a:latin typeface="Arial"/>
              </a:defRPr>
            </a:pPr>
            <a:r>
              <a:t>full figure  |  data.xlsx  |  27/29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01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6344E"/>
                </a:solidFill>
                <a:latin typeface="Arial"/>
              </a:defRPr>
            </a:pPr>
            <a:r>
              <a:t>Figure 8A — Fixed-configuration repeated validation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578" y="914400"/>
            <a:ext cx="9491795" cy="5440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1908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57F"/>
                </a:solidFill>
                <a:latin typeface="Arial"/>
              </a:defRPr>
            </a:pPr>
            <a:r>
              <a:t>individual subplot  |  data.xlsx  |  28/29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01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6344E"/>
                </a:solidFill>
                <a:latin typeface="Arial"/>
              </a:defRPr>
            </a:pPr>
            <a:r>
              <a:t>Figure 8B — Factor-held-out tests including ML-Strong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5426" y="914400"/>
            <a:ext cx="8178098" cy="5440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1908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57F"/>
                </a:solidFill>
                <a:latin typeface="Arial"/>
              </a:defRPr>
            </a:pPr>
            <a:r>
              <a:t>individual subplot  |  data.xlsx  |  29/29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