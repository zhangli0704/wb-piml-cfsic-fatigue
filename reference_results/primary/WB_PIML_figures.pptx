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56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6344E"/>
                </a:solidFill>
                <a:latin typeface="Arial"/>
              </a:defRPr>
            </a:pPr>
            <a:r>
              <a:t>WB-PIML — Figures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23160"/>
            <a:ext cx="107899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solidFill>
                  <a:srgbClr val="3A4D5B"/>
                </a:solidFill>
                <a:latin typeface="Arial"/>
              </a:defRPr>
            </a:pPr>
            <a:r>
              <a:t>8 composite figures and every non-empty subplot</a:t>
            </a:r>
            <a:br/>
            <a:r>
              <a:t>Generated from data.xlsx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1 — Exact-fracture outer-test predictions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128" y="914400"/>
            <a:ext cx="8436694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full figure  |  data.xlsx  |  2/29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1A — WB exact-fracture predictions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926" y="914400"/>
            <a:ext cx="5877098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3/29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1B — ML-Ens exact-fracture predictions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926" y="914400"/>
            <a:ext cx="5877098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4/29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1C — ExtraTrees exact-fracture predictions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747" y="914400"/>
            <a:ext cx="5833456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5/29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1D — ML-Strong exact-fracture predictions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926" y="914400"/>
            <a:ext cx="5877098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6/29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1E — WB-PIML exact-fracture predictions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926" y="914400"/>
            <a:ext cx="5877098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7/29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2 — Campaign-balanced primary metrics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48543"/>
            <a:ext cx="11365992" cy="29723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full figure  |  data.xlsx  |  8/29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2A — RMSE ↓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6715" y="914400"/>
            <a:ext cx="5655520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9/29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2B — $R^2$ ↑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458" y="914400"/>
            <a:ext cx="5700034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10/29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2C — $F_5$ ↑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5288" y="914400"/>
            <a:ext cx="5498375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11/29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2D — $C^*$ ↓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200" y="914400"/>
            <a:ext cx="5492550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12/29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3 — Retrained model ablation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79" y="1096108"/>
            <a:ext cx="11365992" cy="50772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full figure  |  data.xlsx  |  13/29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3A — Competing-damage and residual ablation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65037"/>
            <a:ext cx="11365992" cy="51394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14/29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4 — Paired performance-effect intervals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62773"/>
            <a:ext cx="11365992" cy="3743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full figure  |  data.xlsx  |  15/29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4A — WB-PIML versus ExtraTrees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724" y="914400"/>
            <a:ext cx="6645503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16/29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4B — WB-PIML versus ML-Strong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8630" y="914400"/>
            <a:ext cx="5791691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17/29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4C — WB-PIML versus ML-Ens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975" y="914400"/>
            <a:ext cx="5749001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18/29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5 — Empirical prediction intervals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03328"/>
            <a:ext cx="11365992" cy="44628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full figure  |  data.xlsx  |  19/29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5A — Outer-test empirical 90% intervals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7250" y="914400"/>
            <a:ext cx="6814451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20/29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5B — Empirical interval coverage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762" y="914400"/>
            <a:ext cx="7145426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21/29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6 — Runout evaluation under right censoring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79" y="1344931"/>
            <a:ext cx="11365992" cy="457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full figure  |  data.xlsx  |  22/29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6A — Runout survival negative log-likelihood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013" y="914400"/>
            <a:ext cx="6810925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23/29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6B — Point prediction versus runout limit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013" y="914400"/>
            <a:ext cx="6810925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24/29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7 — Source-specific RMSE gain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508" y="914400"/>
            <a:ext cx="9955935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full figure  |  data.xlsx  |  25/29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7A — Source-level RMSE gain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863" y="914400"/>
            <a:ext cx="9793224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26/29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8 — Validation-scope comparison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79" y="1605365"/>
            <a:ext cx="11365992" cy="40587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full figure  |  data.xlsx  |  27/29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8A — Fixed-configuration repeated validation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578" y="914400"/>
            <a:ext cx="9491795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28/29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014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16344E"/>
                </a:solidFill>
                <a:latin typeface="Arial"/>
              </a:defRPr>
            </a:pPr>
            <a:r>
              <a:t>Figure 8B — Factor-held-out tests including ML-Strong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5426" y="914400"/>
            <a:ext cx="8178098" cy="5440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419088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757F"/>
                </a:solidFill>
                <a:latin typeface="Arial"/>
              </a:defRPr>
            </a:pPr>
            <a:r>
              <a:t>individual subplot  |  data.xlsx  |  29/29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